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2F2F0"/>
                </a:solidFill>
              </a:rPr>
              <a:t>Evolución tecnológica de un proyecto de software:</a:t>
            </a:r>
          </a:p>
          <a:p>
            <a:pPr algn="ctr"/>
            <a:r>
              <a:rPr sz="3200" b="1">
                <a:solidFill>
                  <a:srgbClr val="B39A3A"/>
                </a:solidFill>
              </a:rPr>
              <a:t>del problema a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0B4C8"/>
                </a:solidFill>
              </a:rPr>
              <a:t>🦉  El Búho Tragón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4297680"/>
            <a:ext cx="1005840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2F2F0"/>
                </a:solidFill>
              </a:rPr>
              <a:t>Joaquin Alfredo Castro Córdova  ·  Owen Adiel Solis Zatarain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Universidad de Sonora  ·  Licenciatura en Ciencias de la Computación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XXXV Semana Nacional de Investigación y Docencia en Matemáticas  ·  Septiembre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B39A3A"/>
                </a:solidFill>
              </a:rPr>
              <a:t>ACTO 1 — EL PROBLEMA ERA SENCILLO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2F2F0"/>
                </a:solidFill>
              </a:rPr>
              <a:t>¿Dónde venden hamburguesas en el campus?</a:t>
            </a:r>
          </a:p>
        </p:txBody>
      </p:sp>
      <p:sp>
        <p:nvSpPr>
          <p:cNvPr id="4" name="Rectangle 3"/>
          <p:cNvSpPr/>
          <p:nvPr/>
        </p:nvSpPr>
        <p:spPr>
          <a:xfrm>
            <a:off x="3346704" y="3383280"/>
            <a:ext cx="5486400" cy="27432"/>
          </a:xfrm>
          <a:prstGeom prst="rect">
            <a:avLst/>
          </a:prstGeom>
          <a:solidFill>
            <a:srgbClr val="4A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0B4C8"/>
                </a:solidFill>
              </a:rPr>
              <a:t>¿A cuánto están?</a:t>
            </a:r>
          </a:p>
          <a:p>
            <a:pPr algn="ctr"/>
            <a:r>
              <a:rPr sz="2000" b="0">
                <a:solidFill>
                  <a:srgbClr val="A0B4C8"/>
                </a:solidFill>
              </a:rPr>
              <a:t>¿Está abierto ahorita?</a:t>
            </a:r>
          </a:p>
          <a:p>
            <a:pPr algn="ctr"/>
            <a:r>
              <a:rPr sz="2000" b="0">
                <a:solidFill>
                  <a:srgbClr val="A0B4C8"/>
                </a:solidFill>
              </a:rPr>
              <a:t>¿Qué venden de bueno?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39A3A"/>
                </a:solidFill>
              </a:rPr>
              <a:t>La información existe. Solo está dispersa.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8"/>
                </a:solidFill>
              </a:rPr>
              <a:t>▸ Joaquin Castro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B39A3A"/>
                </a:solidFill>
              </a:rPr>
              <a:t>ACTO 1 — LA PRIMERA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2F0"/>
                </a:solidFill>
              </a:rPr>
              <a:t>Primera versión: un catálogo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280160"/>
            <a:ext cx="1005840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39A3A"/>
                </a:solidFill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2F0"/>
                </a:solidFill>
              </a:rPr>
              <a:t>¿Dónde está la tiendita?</a:t>
            </a:r>
          </a:p>
          <a:p>
            <a:pPr algn="l"/>
            <a:r>
              <a:rPr sz="1600" b="0">
                <a:solidFill>
                  <a:srgbClr val="F2F2F0"/>
                </a:solidFill>
              </a:rPr>
              <a:t>¿Qué venden?</a:t>
            </a:r>
          </a:p>
          <a:p>
            <a:pPr algn="l"/>
            <a:r>
              <a:rPr sz="1600" b="0">
                <a:solidFill>
                  <a:srgbClr val="F2F2F0"/>
                </a:solidFill>
              </a:rPr>
              <a:t>¿Cuánto cuesta?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39A3A"/>
                </a:solidFill>
              </a:rPr>
              <a:t>La solución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2F0"/>
                </a:solidFill>
              </a:rPr>
              <a:t>Base de datos de cafeterías</a:t>
            </a:r>
          </a:p>
          <a:p>
            <a:pPr algn="l"/>
            <a:r>
              <a:rPr sz="1600" b="0">
                <a:solidFill>
                  <a:srgbClr val="F2F2F0"/>
                </a:solidFill>
              </a:rPr>
              <a:t>API REST</a:t>
            </a:r>
          </a:p>
          <a:p>
            <a:pPr algn="l"/>
            <a:r>
              <a:rPr sz="1600" b="0">
                <a:solidFill>
                  <a:srgbClr val="F2F2F0"/>
                </a:solidFill>
              </a:rPr>
              <a:t>Interfaz web (catálogo)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417320"/>
            <a:ext cx="27432" cy="2011680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3794760"/>
            <a:ext cx="1005840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4C8"/>
                </a:solidFill>
              </a:rPr>
              <a:t>Ingeniería de Software I  ·  Primer commit: Marzo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0B4C8"/>
                </a:solidFill>
              </a:rPr>
              <a:t>Primer commit real: </a:t>
            </a:r>
            <a:r>
              <a:rPr sz="1300" i="1">
                <a:solidFill>
                  <a:srgbClr val="B39A3A"/>
                </a:solidFill>
              </a:rPr>
              <a:t>"Crear Estructura del Peoyecto"</a:t>
            </a:r>
            <a:r>
              <a:rPr sz="1300">
                <a:solidFill>
                  <a:srgbClr val="A0B4C8"/>
                </a:solidFill>
              </a:rPr>
              <a:t>  (typo real — evidencia de que fue un proyecto auténtico)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09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8"/>
                </a:solidFill>
              </a:rPr>
              <a:t>▸ Joaquin Castro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B39A3A"/>
                </a:solidFill>
              </a:rPr>
              <a:t>ACTO 2 — EL PROBLEMA EMPEZÓ A CRECER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2F0"/>
                </a:solidFill>
              </a:rPr>
              <a:t>Cada pregunta nueva... es un problema nuevo.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280160"/>
            <a:ext cx="1005840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2F2F0"/>
                </a:solidFill>
              </a:rPr>
              <a:t>¿Dónde exactamente está esa tiendita?</a:t>
            </a:r>
            <a:r>
              <a:rPr sz="1700" b="1">
                <a:solidFill>
                  <a:srgbClr val="B39A3A"/>
                </a:solidFill>
              </a:rPr>
              <a:t>   →  Mapas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2F2F0"/>
                </a:solidFill>
              </a:rPr>
              <a:t>¿Está abierta ahorita?</a:t>
            </a:r>
            <a:r>
              <a:rPr sz="1700" b="1">
                <a:solidFill>
                  <a:srgbClr val="B39A3A"/>
                </a:solidFill>
              </a:rPr>
              <a:t>   →  Horarios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2F2F0"/>
                </a:solidFill>
              </a:rPr>
              <a:t>¿Qué opina la gente de ese lugar?</a:t>
            </a:r>
            <a:r>
              <a:rPr sz="1700" b="1">
                <a:solidFill>
                  <a:srgbClr val="B39A3A"/>
                </a:solidFill>
              </a:rPr>
              <a:t>   →  Reseñas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2F2F0"/>
                </a:solidFill>
              </a:rPr>
              <a:t>¿Quién puede actualizar la información?</a:t>
            </a:r>
            <a:r>
              <a:rPr sz="1700" b="1">
                <a:solidFill>
                  <a:srgbClr val="B39A3A"/>
                </a:solidFill>
              </a:rPr>
              <a:t>   →  Administración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26279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2F2F0"/>
                </a:solidFill>
              </a:rPr>
              <a:t>¿Cómo sé que eres tú y no otra persona?</a:t>
            </a:r>
            <a:r>
              <a:rPr sz="1700" b="1">
                <a:solidFill>
                  <a:srgbClr val="B39A3A"/>
                </a:solidFill>
              </a:rPr>
              <a:t>   →  Autenticación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8"/>
                </a:solidFill>
              </a:rPr>
              <a:t>▸ Owen Solis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B39A3A"/>
                </a:solidFill>
              </a:rPr>
              <a:t>ACTO 2 — DECISIONES TECNOLÓGICAS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39A3A"/>
                </a:solidFill>
              </a:rPr>
              <a:t>Problema  →  Necesidad  → 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280160"/>
            <a:ext cx="1005840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2F2F0"/>
                </a:solidFill>
              </a:rPr>
              <a:t>• Ubicación física desconocida                 </a:t>
            </a:r>
            <a:r>
              <a:rPr sz="1600" b="1">
                <a:solidFill>
                  <a:srgbClr val="4A9ED4"/>
                </a:solidFill>
              </a:rPr>
              <a:t>  →  Leaflet + OpenStreetMap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671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2F2F0"/>
                </a:solidFill>
              </a:rPr>
              <a:t>• Horarios de apertura/cierre                  </a:t>
            </a:r>
            <a:r>
              <a:rPr sz="1600" b="1">
                <a:solidFill>
                  <a:srgbClr val="4A9ED4"/>
                </a:solidFill>
              </a:rPr>
              <a:t>  →  Campo en BD + cálculo en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16936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2F2F0"/>
                </a:solidFill>
              </a:rPr>
              <a:t>• Opiniones de otros estudiantes               </a:t>
            </a:r>
            <a:r>
              <a:rPr sz="1600" b="1">
                <a:solidFill>
                  <a:srgbClr val="4A9ED4"/>
                </a:solidFill>
              </a:rPr>
              <a:t>  →  Sistema de reseñas (Modelo + API)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66744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2F2F0"/>
                </a:solidFill>
              </a:rPr>
              <a:t>• Control de acceso a edición                  </a:t>
            </a:r>
            <a:r>
              <a:rPr sz="1600" b="1">
                <a:solidFill>
                  <a:srgbClr val="4A9ED4"/>
                </a:solidFill>
              </a:rPr>
              <a:t>  →  JWT + roles admin/estudiante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1655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2F2F0"/>
                </a:solidFill>
              </a:rPr>
              <a:t>• Gestión de datos del catálogo                </a:t>
            </a:r>
            <a:r>
              <a:rPr sz="1600" b="1">
                <a:solidFill>
                  <a:srgbClr val="4A9ED4"/>
                </a:solidFill>
              </a:rPr>
              <a:t>  →  Panel de administración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B39A3A"/>
                </a:solidFill>
              </a:rPr>
              <a:t>En ningún caso elegimos primero la tecnología. Primero apareció el problema.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8"/>
                </a:solidFill>
              </a:rPr>
              <a:t>▸ Owen Solis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B39A3A"/>
                </a:solidFill>
              </a:rPr>
              <a:t>ACTO 2 — ARQUITECTURA EN 3 CAPAS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2F2F0"/>
                </a:solidFill>
              </a:rPr>
              <a:t>La arquitectura que resultó de esas decisiones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170432"/>
            <a:ext cx="1005840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371600"/>
            <a:ext cx="8531352" cy="1234440"/>
          </a:xfrm>
          <a:prstGeom prst="rect">
            <a:avLst/>
          </a:prstGeom>
          <a:solidFill>
            <a:srgbClr val="102850"/>
          </a:solidFill>
          <a:ln w="19050">
            <a:solidFill>
              <a:srgbClr val="4A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D4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47088"/>
            <a:ext cx="7955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2F0"/>
                </a:solidFill>
              </a:rPr>
              <a:t>React 19  ·  Vite 6  ·  TailwindCSS 4
Mapas (Leaflet)  ·  Chat  ·  Reseñas  · 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651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39A3A"/>
                </a:solidFill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246120"/>
            <a:ext cx="8531352" cy="1234440"/>
          </a:xfrm>
          <a:prstGeom prst="rect">
            <a:avLst/>
          </a:prstGeom>
          <a:solidFill>
            <a:srgbClr val="102850"/>
          </a:solidFill>
          <a:ln w="19050">
            <a:solidFill>
              <a:srgbClr val="B39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39A3A"/>
                </a:solidFill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21608"/>
            <a:ext cx="7955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2F0"/>
                </a:solidFill>
              </a:rPr>
              <a:t>Django 5  ·  Django REST Framework
JWT  ·  SQLite  ·  14 cafeterías  ·  482 platillos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26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39A3A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5120640"/>
            <a:ext cx="8531352" cy="1234440"/>
          </a:xfrm>
          <a:prstGeom prst="rect">
            <a:avLst/>
          </a:prstGeom>
          <a:solidFill>
            <a:srgbClr val="102850"/>
          </a:solidFill>
          <a:ln w="19050">
            <a:solidFill>
              <a:srgbClr val="FF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5212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A5A"/>
                </a:solidFill>
              </a:rPr>
              <a:t>MOTOR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596127"/>
            <a:ext cx="7955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2F0"/>
                </a:solidFill>
              </a:rPr>
              <a:t>FAISS  ·  CrossEncoder  ·  Qwen2.5-14B-Instruct
Clúster Yuca — ACARUS — Universidad de Sonora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8"/>
                </a:solidFill>
              </a:rPr>
              <a:t>▸ Owen Solis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2F2F0"/>
                </a:solidFill>
              </a:rPr>
              <a:t>"Hay que meterle IA."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3904" y="3383280"/>
            <a:ext cx="457200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1">
                <a:solidFill>
                  <a:srgbClr val="B39A3A"/>
                </a:solidFill>
              </a:rPr>
              <a:t>¿Para qué?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B4C8"/>
                </a:solidFill>
              </a:rPr>
              <a:t>La idea informal se convirtió en una pregunta de ingeniería.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8"/>
                </a:solidFill>
              </a:rPr>
              <a:t>▸ Joaquin Castro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B39A3A"/>
                </a:solidFill>
              </a:rPr>
              <a:t>ACTO 3 — EL CASO DE USO DE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2F2F0"/>
                </a:solidFill>
              </a:rPr>
              <a:t>El caso de uso concreto: lenguaje natural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170432"/>
            <a:ext cx="1005840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45752" cy="2560320"/>
          </a:xfrm>
          <a:prstGeom prst="rect">
            <a:avLst/>
          </a:prstGeom>
          <a:solidFill>
            <a:srgbClr val="102850"/>
          </a:solidFill>
          <a:ln w="12700">
            <a:solidFill>
              <a:srgbClr val="4A9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463040"/>
            <a:ext cx="8961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9ED4"/>
                </a:solidFill>
              </a:rPr>
              <a:t>👤  Usuario:</a:t>
            </a:r>
          </a:p>
          <a:p>
            <a:pPr algn="l"/>
            <a:r>
              <a:rPr sz="2000" b="1">
                <a:solidFill>
                  <a:srgbClr val="F2F2F0"/>
                </a:solidFill>
              </a:rPr>
              <a:t>"¿Dónde venden torta cubana más barata?"</a:t>
            </a:r>
          </a:p>
          <a:p>
            <a:pPr algn="l"/>
            <a:r>
              <a:rPr sz="800" b="0">
                <a:solidFill>
                  <a:srgbClr val="F2F2F0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B39A3A"/>
                </a:solidFill>
              </a:rPr>
              <a:t>🦉  El Buhito:</a:t>
            </a:r>
          </a:p>
          <a:p>
            <a:pPr algn="l"/>
            <a:r>
              <a:rPr sz="1700" b="0">
                <a:solidFill>
                  <a:srgbClr val="F2F2F0"/>
                </a:solidFill>
              </a:rPr>
              <a:t>"La torta cubana más barata está en la Tiendita de Exactas
a $45.00 MXN, a 120 metros de tu ubicación actual."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114800"/>
            <a:ext cx="1005840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A5A"/>
                </a:solidFill>
              </a:rPr>
              <a:t>La búsqueda tradicional no puede responder esto.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</a:rPr>
              <a:t>El lenguaje natural sí puede. Y el usuario no necesita aprender la sintaxis del sistema.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8"/>
                </a:solidFill>
              </a:rPr>
              <a:t>▸ Joaquin Castro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B39A3A"/>
                </a:solidFill>
              </a:rPr>
              <a:t>ACTO 3 — ¿POR QUÉ RAG?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2F0"/>
                </a:solidFill>
              </a:rPr>
              <a:t>RAG: Retrieval-Augmented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170432"/>
            <a:ext cx="1005840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A5A"/>
                </a:solidFill>
              </a:rPr>
              <a:t>❌  Sin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0"/>
                </a:solidFill>
              </a:rPr>
              <a:t>Poner todos los datos al prompt</a:t>
            </a:r>
          </a:p>
          <a:p>
            <a:pPr algn="l"/>
            <a:r>
              <a:rPr sz="1500" b="0">
                <a:solidFill>
                  <a:srgbClr val="F2F2F0"/>
                </a:solidFill>
              </a:rPr>
              <a:t>482 platillos × datos = prompt gigante</a:t>
            </a:r>
          </a:p>
          <a:p>
            <a:pPr algn="l"/>
            <a:r>
              <a:rPr sz="1500" b="0">
                <a:solidFill>
                  <a:srgbClr val="F2F2F0"/>
                </a:solidFill>
              </a:rPr>
              <a:t>Ineficiente · se dispersa la atención</a:t>
            </a:r>
          </a:p>
          <a:p>
            <a:pPr algn="l"/>
            <a:r>
              <a:rPr sz="1500" b="0">
                <a:solidFill>
                  <a:srgbClr val="F2F2F0"/>
                </a:solidFill>
              </a:rPr>
              <a:t>No escala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ED4"/>
                </a:solidFill>
              </a:rPr>
              <a:t>✅  Con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0"/>
                </a:solidFill>
              </a:rPr>
              <a:t>Buscar primero lo relevante</a:t>
            </a:r>
          </a:p>
          <a:p>
            <a:pPr algn="l"/>
            <a:r>
              <a:rPr sz="1500" b="0">
                <a:solidFill>
                  <a:srgbClr val="F2F2F0"/>
                </a:solidFill>
              </a:rPr>
              <a:t>Dar solo eso al modelo como contexto</a:t>
            </a:r>
          </a:p>
          <a:p>
            <a:pPr algn="l"/>
            <a:r>
              <a:rPr sz="1500" b="0">
                <a:solidFill>
                  <a:srgbClr val="F2F2F0"/>
                </a:solidFill>
              </a:rPr>
              <a:t>El modelo responde con datos reales</a:t>
            </a:r>
          </a:p>
          <a:p>
            <a:pPr algn="l"/>
            <a:r>
              <a:rPr sz="1500" b="0">
                <a:solidFill>
                  <a:srgbClr val="F2F2F0"/>
                </a:solidFill>
              </a:rPr>
              <a:t>Escala cuando crecen los datos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80160"/>
            <a:ext cx="27432" cy="2468880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3931920"/>
            <a:ext cx="1005840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39A3A"/>
                </a:solidFill>
              </a:rPr>
              <a:t>La clave: antes de generar, recuperar.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8"/>
                </a:solidFill>
              </a:rPr>
              <a:t>▸ Joaquin Castro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B39A3A"/>
                </a:solidFill>
              </a:rPr>
              <a:t>ACTO 3 — EL PIPELINE DEL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2F0"/>
                </a:solidFill>
              </a:rPr>
              <a:t>8 pasos entre la pregunta y la respuesta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170432"/>
            <a:ext cx="1005840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335024"/>
            <a:ext cx="347472" cy="347472"/>
          </a:xfrm>
          <a:prstGeom prst="ellipse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350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1326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441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D4"/>
                </a:solidFill>
              </a:rPr>
              <a:t>Reformulación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344168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0"/>
                </a:solidFill>
              </a:rPr>
              <a:t>Qwen reescribe la pregunta con contexto del historial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920240"/>
            <a:ext cx="347472" cy="347472"/>
          </a:xfrm>
          <a:prstGeom prst="ellipse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1326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93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D4"/>
                </a:solidFill>
              </a:rPr>
              <a:t>Fuzzy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29384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0"/>
                </a:solidFill>
              </a:rPr>
              <a:t>Detecta alias del campus: 'exactas', 'mates', 'conta'... (35+ apodos)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505456"/>
            <a:ext cx="347472" cy="347472"/>
          </a:xfrm>
          <a:prstGeom prst="ellipse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054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1326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D4"/>
                </a:solidFill>
              </a:rPr>
              <a:t>Embedding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51460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0"/>
                </a:solidFill>
              </a:rPr>
              <a:t>Convierte la consulta en vector de 384 dimensiones (MiniLM-L12)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090672"/>
            <a:ext cx="347472" cy="347472"/>
          </a:xfrm>
          <a:prstGeom prst="ellipse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906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1326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998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D4"/>
                </a:solidFill>
              </a:rPr>
              <a:t>FAISS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099816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0"/>
                </a:solidFill>
              </a:rPr>
              <a:t>Búsqueda semántica en el índice vectorial  →  top 50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3675888"/>
            <a:ext cx="347472" cy="347472"/>
          </a:xfrm>
          <a:prstGeom prst="ellipse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758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1326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85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D4"/>
                </a:solidFill>
              </a:rPr>
              <a:t>Filtro geográfico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685032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0"/>
                </a:solidFill>
              </a:rPr>
              <a:t>Descarta cafeterías a más de 2,500 metros (Haversine)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4261104"/>
            <a:ext cx="347472" cy="347472"/>
          </a:xfrm>
          <a:prstGeom prst="ellipse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1326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70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D4"/>
                </a:solidFill>
              </a:rPr>
              <a:t>Re-ranking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270248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0"/>
                </a:solidFill>
              </a:rPr>
              <a:t>CrossEncoder re-evalúa la relevancia  →  top 10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4846320"/>
            <a:ext cx="347472" cy="347472"/>
          </a:xfrm>
          <a:prstGeom prst="ellipse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846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1326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554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D4"/>
                </a:solidFill>
              </a:rPr>
              <a:t>Generación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855464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0"/>
                </a:solidFill>
              </a:rPr>
              <a:t>Qwen2.5-14B-Instruct genera respuesta  (temp=0.1)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" y="5431536"/>
            <a:ext cx="347472" cy="347472"/>
          </a:xfrm>
          <a:prstGeom prst="ellipse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4315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1326"/>
                </a:solidFill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40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D4"/>
                </a:solidFill>
              </a:rPr>
              <a:t>Respuesta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440679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0"/>
                </a:solidFill>
              </a:rPr>
              <a:t>Texto limpio al usuario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309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8"/>
                </a:solidFill>
              </a:rPr>
              <a:t>▸ Owen Solis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B39A3A"/>
                </a:solidFill>
              </a:rPr>
              <a:t>ACTO 3 — EL MOMENTO MEMORABLE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B4C8"/>
                </a:solidFill>
              </a:rPr>
              <a:t>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2F2F0"/>
                </a:solidFill>
              </a:rPr>
              <a:t>"Crear Estructura del </a:t>
            </a:r>
            <a:r>
              <a:rPr sz="2200" b="1">
                <a:solidFill>
                  <a:srgbClr val="FF7A5A"/>
                </a:solidFill>
              </a:rPr>
              <a:t>Peoyecto</a:t>
            </a:r>
            <a:r>
              <a:rPr sz="2200">
                <a:solidFill>
                  <a:srgbClr val="F2F2F0"/>
                </a:solidFill>
              </a:rPr>
              <a:t>"</a:t>
            </a:r>
          </a:p>
          <a:p>
            <a:r>
              <a:rPr sz="1400" i="1">
                <a:solidFill>
                  <a:srgbClr val="A0B4C8"/>
                </a:solidFill>
              </a:rPr>
              <a:t>Marzo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B39A3A"/>
                </a:solidFill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5661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4C8"/>
                </a:solidFill>
              </a:rPr>
              <a:t>¿Cómo llegamos
de aquí a allá?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640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B4C8"/>
                </a:solidFill>
              </a:rPr>
              <a:t>PUNTO DE LLEGADA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39A3A"/>
                </a:solidFill>
              </a:rPr>
              <a:t>Qwen2.5-14B-Instruct</a:t>
            </a:r>
          </a:p>
          <a:p>
            <a:pPr algn="l"/>
            <a:r>
              <a:rPr sz="1500" b="0">
                <a:solidFill>
                  <a:srgbClr val="F2F2F0"/>
                </a:solidFill>
              </a:rPr>
              <a:t>~28 GB VRAM  ·  FP16</a:t>
            </a:r>
          </a:p>
          <a:p>
            <a:pPr algn="l"/>
            <a:r>
              <a:rPr sz="1500" b="0">
                <a:solidFill>
                  <a:srgbClr val="F2F2F0"/>
                </a:solidFill>
              </a:rPr>
              <a:t>AMD Instinct MI210  ·  ROCm</a:t>
            </a:r>
          </a:p>
          <a:p>
            <a:pPr algn="l"/>
            <a:r>
              <a:rPr sz="1500" b="0">
                <a:solidFill>
                  <a:srgbClr val="4A9ED4"/>
                </a:solidFill>
              </a:rPr>
              <a:t>Clúster Yuca — ACARUS</a:t>
            </a:r>
          </a:p>
          <a:p>
            <a:pPr algn="l"/>
            <a:r>
              <a:rPr sz="1300" b="0">
                <a:solidFill>
                  <a:srgbClr val="A0B4C8"/>
                </a:solidFill>
              </a:rPr>
              <a:t>Universidad de Sonora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1097280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2F2F0"/>
                </a:solidFill>
              </a:rPr>
              <a:t>Porque el problema fue creciendo.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8"/>
                </a:solidFill>
              </a:rPr>
              <a:t>▸ Joaquin Castro  ← MOMENTO MEMORABLE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B39A3A"/>
                </a:solidFill>
              </a:rPr>
              <a:t>ACTO 3 — LA COMPLEJIDAD TAMBIÉN CRECE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2F2F0"/>
                </a:solidFill>
              </a:rPr>
              <a:t>Cada solución trajo su propio problema nuevo.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170432"/>
            <a:ext cx="1005840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73152" cy="502920"/>
          </a:xfrm>
          <a:prstGeom prst="rect">
            <a:avLst/>
          </a:prstGeom>
          <a:solidFill>
            <a:srgbClr val="F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A5A"/>
                </a:solidFill>
              </a:rPr>
              <a:t>Bug del Singleton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01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0"/>
                </a:solidFill>
              </a:rPr>
              <a:t>El motor RAG compartía historial de conversación entre usuarios distintos.
Fix: agosto 2026 — commit documentado en el repositorio.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34639"/>
            <a:ext cx="73152" cy="502920"/>
          </a:xfrm>
          <a:prstGeom prst="rect">
            <a:avLst/>
          </a:prstGeom>
          <a:solidFill>
            <a:srgbClr val="F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A5A"/>
                </a:solidFill>
              </a:rPr>
              <a:t>Desincronización BD ↔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729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0"/>
                </a:solidFill>
              </a:rPr>
              <a:t>El chatbot no lee la BD en caliente. Lee un archivo JSON generado manualmente.
Actualizar requiere correr 3 scripts. Deuda técnica documentada.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06240"/>
            <a:ext cx="73152" cy="502920"/>
          </a:xfrm>
          <a:prstGeom prst="rect">
            <a:avLst/>
          </a:prstGeom>
          <a:solidFill>
            <a:srgbClr val="F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A5A"/>
                </a:solidFill>
              </a:rPr>
              <a:t>Seguridad implementada por partes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445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0"/>
                </a:solidFill>
              </a:rPr>
              <a:t>Los ViewSets del backend no tienen permisos de escritura.
Cualquier usuario no autenticado puede modificar cafeterías. Identificado y documentado.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39A3A"/>
                </a:solidFill>
              </a:rPr>
              <a:t>La moraleja: cada decisión tecnológica crea restricciones que descubres después.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8"/>
                </a:solidFill>
              </a:rPr>
              <a:t>▸ Owen Solis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B39A3A"/>
                </a:solidFill>
              </a:rPr>
              <a:t>CIERRE — LO QUE APRENDIMOS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2F0"/>
                </a:solidFill>
              </a:rPr>
              <a:t>Tres aprendizajes.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170432"/>
            <a:ext cx="1005840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371600"/>
            <a:ext cx="502920" cy="502920"/>
          </a:xfrm>
          <a:prstGeom prst="ellipse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1326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7160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9ED4"/>
                </a:solidFill>
              </a:rPr>
              <a:t>El problema guía la tecnología, no al revés.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7393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2F0"/>
                </a:solidFill>
              </a:rPr>
              <a:t>No elegimos tecnologías para buscarles un problema. El problema apareció y la tecnología vino después.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97480"/>
            <a:ext cx="502920" cy="502920"/>
          </a:xfrm>
          <a:prstGeom prst="ellipse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1326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9ED4"/>
                </a:solidFill>
              </a:rPr>
              <a:t>Aprendemos durante el desarrollo.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9981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2F0"/>
                </a:solidFill>
              </a:rPr>
              <a:t>No sabíamos RAG, embeddings ni FAISS cuando empezamos. 20+ commits de fixes en un día son evidencia de aprendizaje real.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023360"/>
            <a:ext cx="502920" cy="502920"/>
          </a:xfrm>
          <a:prstGeom prst="ellipse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690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1326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2336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9ED4"/>
                </a:solidFill>
              </a:rPr>
              <a:t>Cada solución crea su propio problema nuevo.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42569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2F0"/>
                </a:solidFill>
              </a:rPr>
              <a:t>El Singleton, la desincronización, los permisos incompletos. La ingeniería de software es eso.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8"/>
                </a:solidFill>
              </a:rPr>
              <a:t>▸ Ambos (alternado)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B4C8"/>
                </a:solidFill>
              </a:rPr>
              <a:t>La línea completa: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2F0"/>
                </a:solidFill>
              </a:rPr>
              <a:t>→  Problema: no sé dónde comer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9786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2F0"/>
                </a:solidFill>
              </a:rPr>
              <a:t>→  Catálogo de tienditas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0992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2F0"/>
                </a:solidFill>
              </a:rPr>
              <a:t>→  Búsqueda y filtros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219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2F0"/>
                </a:solidFill>
              </a:rPr>
              <a:t>→  Mapas (Leaflet)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3405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2F0"/>
                </a:solidFill>
              </a:rPr>
              <a:t>→  Reseñas + Autenticación JWT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2F0"/>
                </a:solidFill>
              </a:rPr>
              <a:t>→  Panel de administración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5818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2F0"/>
                </a:solidFill>
              </a:rPr>
              <a:t>→  Lenguaje natural →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702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2F0"/>
                </a:solidFill>
              </a:rPr>
              <a:t>→  RAG: Embeddings + FAISS + CrossEncoder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823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2F0"/>
                </a:solidFill>
              </a:rPr>
              <a:t>→  Infraestructura HPC: Qwen + YUCA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920240"/>
            <a:ext cx="530352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2F2F0"/>
                </a:solidFill>
              </a:rPr>
              <a:t>"La tecnología fue la respuesta.
 El problema fue la pregunta."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931920"/>
            <a:ext cx="530352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A0B4C8"/>
                </a:solidFill>
              </a:rPr>
              <a:t>No aprendimos primero la tecnología
para después construir el proyecto.
Aprendimos la tecnología porque
necesitábamos resolver el proyecto.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8"/>
                </a:solidFill>
              </a:rPr>
              <a:t>▸ Ambos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2F2F0"/>
                </a:solidFill>
              </a:rPr>
              <a:t>Preguntas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3200400"/>
            <a:ext cx="10058400" cy="2743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39A3A"/>
                </a:solidFill>
              </a:rPr>
              <a:t>El Búho Tragón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4C8"/>
                </a:solidFill>
              </a:rPr>
              <a:t>Joaquin Alfredo Castro Córdova  ·  Owen Adiel Solis Zatarain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8"/>
                </a:solidFill>
              </a:rPr>
              <a:t>Universidad de Sonora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A9ED4"/>
                </a:solidFill>
              </a:rPr>
              <a:t>github.com/OwenSolis03/IS2_ElBuhoTragon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3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